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mo" panose="020B0604020202020204" charset="0"/>
      <p:regular r:id="rId13"/>
    </p:embeddedFont>
    <p:embeddedFont>
      <p:font typeface="IBM Plex Sans" panose="020B05030502030002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weta Shukla" userId="ae28a0a3ee9d3d43" providerId="LiveId" clId="{40C88784-656C-41FB-AA64-EE6DC9AA26C7}"/>
    <pc:docChg chg="undo redo custSel modSld">
      <pc:chgData name="Shweta Shukla" userId="ae28a0a3ee9d3d43" providerId="LiveId" clId="{40C88784-656C-41FB-AA64-EE6DC9AA26C7}" dt="2026-07-12T16:11:43.022" v="111" actId="20577"/>
      <pc:docMkLst>
        <pc:docMk/>
      </pc:docMkLst>
      <pc:sldChg chg="modSp mod">
        <pc:chgData name="Shweta Shukla" userId="ae28a0a3ee9d3d43" providerId="LiveId" clId="{40C88784-656C-41FB-AA64-EE6DC9AA26C7}" dt="2026-07-12T16:11:43.022" v="111" actId="20577"/>
        <pc:sldMkLst>
          <pc:docMk/>
          <pc:sldMk cId="0" sldId="256"/>
        </pc:sldMkLst>
        <pc:spChg chg="mod">
          <ac:chgData name="Shweta Shukla" userId="ae28a0a3ee9d3d43" providerId="LiveId" clId="{40C88784-656C-41FB-AA64-EE6DC9AA26C7}" dt="2026-07-12T16:11:43.022" v="111" actId="20577"/>
          <ac:spMkLst>
            <pc:docMk/>
            <pc:sldMk cId="0" sldId="256"/>
            <ac:spMk id="14" creationId="{00000000-0000-0000-0000-000000000000}"/>
          </ac:spMkLst>
        </pc:spChg>
      </pc:sldChg>
      <pc:sldChg chg="modSp mod">
        <pc:chgData name="Shweta Shukla" userId="ae28a0a3ee9d3d43" providerId="LiveId" clId="{40C88784-656C-41FB-AA64-EE6DC9AA26C7}" dt="2026-07-12T15:58:40.674" v="95" actId="1076"/>
        <pc:sldMkLst>
          <pc:docMk/>
          <pc:sldMk cId="0" sldId="261"/>
        </pc:sldMkLst>
        <pc:spChg chg="mod">
          <ac:chgData name="Shweta Shukla" userId="ae28a0a3ee9d3d43" providerId="LiveId" clId="{40C88784-656C-41FB-AA64-EE6DC9AA26C7}" dt="2026-07-12T15:58:40.674" v="95" actId="1076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Shweta Shukla" userId="ae28a0a3ee9d3d43" providerId="LiveId" clId="{40C88784-656C-41FB-AA64-EE6DC9AA26C7}" dt="2026-07-12T15:59:11.335" v="97" actId="255"/>
        <pc:sldMkLst>
          <pc:docMk/>
          <pc:sldMk cId="0" sldId="262"/>
        </pc:sldMkLst>
        <pc:spChg chg="mod">
          <ac:chgData name="Shweta Shukla" userId="ae28a0a3ee9d3d43" providerId="LiveId" clId="{40C88784-656C-41FB-AA64-EE6DC9AA26C7}" dt="2026-07-12T15:59:11.335" v="97" actId="255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weta Shukla" userId="ae28a0a3ee9d3d43" providerId="LiveId" clId="{40C88784-656C-41FB-AA64-EE6DC9AA26C7}" dt="2026-07-12T15:59:02.805" v="96" actId="255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Shweta Shukla" userId="ae28a0a3ee9d3d43" providerId="LiveId" clId="{40C88784-656C-41FB-AA64-EE6DC9AA26C7}" dt="2026-07-12T15:59:56.393" v="100" actId="1076"/>
        <pc:sldMkLst>
          <pc:docMk/>
          <pc:sldMk cId="0" sldId="264"/>
        </pc:sldMkLst>
        <pc:spChg chg="mod">
          <ac:chgData name="Shweta Shukla" userId="ae28a0a3ee9d3d43" providerId="LiveId" clId="{40C88784-656C-41FB-AA64-EE6DC9AA26C7}" dt="2026-07-12T15:59:39.362" v="99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hweta Shukla" userId="ae28a0a3ee9d3d43" providerId="LiveId" clId="{40C88784-656C-41FB-AA64-EE6DC9AA26C7}" dt="2026-07-12T15:59:56.393" v="100" actId="1076"/>
          <ac:spMkLst>
            <pc:docMk/>
            <pc:sldMk cId="0" sldId="264"/>
            <ac:spMk id="7" creationId="{00000000-0000-0000-0000-000000000000}"/>
          </ac:spMkLst>
        </pc:spChg>
        <pc:grpChg chg="mod">
          <ac:chgData name="Shweta Shukla" userId="ae28a0a3ee9d3d43" providerId="LiveId" clId="{40C88784-656C-41FB-AA64-EE6DC9AA26C7}" dt="2026-07-12T15:59:28.920" v="98" actId="1076"/>
          <ac:grpSpMkLst>
            <pc:docMk/>
            <pc:sldMk cId="0" sldId="264"/>
            <ac:grpSpMk id="4" creationId="{00000000-0000-0000-0000-000000000000}"/>
          </ac:grpSpMkLst>
        </pc:grpChg>
      </pc:sldChg>
      <pc:sldChg chg="modSp mod modNotes">
        <pc:chgData name="Shweta Shukla" userId="ae28a0a3ee9d3d43" providerId="LiveId" clId="{40C88784-656C-41FB-AA64-EE6DC9AA26C7}" dt="2026-07-12T16:00:33.472" v="103" actId="122"/>
        <pc:sldMkLst>
          <pc:docMk/>
          <pc:sldMk cId="0" sldId="265"/>
        </pc:sldMkLst>
        <pc:spChg chg="mod">
          <ac:chgData name="Shweta Shukla" userId="ae28a0a3ee9d3d43" providerId="LiveId" clId="{40C88784-656C-41FB-AA64-EE6DC9AA26C7}" dt="2026-07-12T16:00:33.472" v="103" actId="122"/>
          <ac:spMkLst>
            <pc:docMk/>
            <pc:sldMk cId="0" sldId="265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2.png"/><Relationship Id="rId10" Type="http://schemas.openxmlformats.org/officeDocument/2006/relationships/image" Target="../media/image15.png"/><Relationship Id="rId4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199"/>
            </a:xfrm>
            <a:custGeom>
              <a:avLst/>
              <a:gdLst/>
              <a:ahLst/>
              <a:cxnLst/>
              <a:rect l="l" t="t" r="r" b="b"/>
              <a:pathLst>
                <a:path w="8766175" h="13149199">
                  <a:moveTo>
                    <a:pt x="0" y="0"/>
                  </a:moveTo>
                  <a:lnTo>
                    <a:pt x="8766175" y="0"/>
                  </a:lnTo>
                  <a:lnTo>
                    <a:pt x="8766175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3312614"/>
            <a:ext cx="9445523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AI Studio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4340571"/>
            <a:ext cx="9445523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Internship Project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5151539"/>
            <a:ext cx="9445523" cy="130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Shweta Shukla • 13/07/2026</a:t>
            </a:r>
          </a:p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Project on a multimodal, privacy-first local AI workspace built for offline-first development and secure experimentation.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1739" y="182613"/>
            <a:ext cx="6614522" cy="9921773"/>
            <a:chOff x="0" y="0"/>
            <a:chExt cx="8819363" cy="1322903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819388" cy="13229082"/>
            </a:xfrm>
            <a:custGeom>
              <a:avLst/>
              <a:gdLst/>
              <a:ahLst/>
              <a:cxnLst/>
              <a:rect l="l" t="t" r="r" b="b"/>
              <a:pathLst>
                <a:path w="8819388" h="13229082">
                  <a:moveTo>
                    <a:pt x="0" y="0"/>
                  </a:moveTo>
                  <a:lnTo>
                    <a:pt x="8819388" y="0"/>
                  </a:lnTo>
                  <a:lnTo>
                    <a:pt x="8819388" y="13229082"/>
                  </a:lnTo>
                  <a:lnTo>
                    <a:pt x="0" y="13229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" b="-2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8" y="773459"/>
            <a:ext cx="9445523" cy="64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8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Vision &amp; Scope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1686963"/>
            <a:ext cx="9445523" cy="1497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a unified local AI ecosystem — "AI Studio" — that enables secure multimodal workflows on-device. Reduce reliance on cloud APIs by orchestrating models locally (Ollama), emphasiz ing user privacy, reproducibility, and offline experimentation for developers and researchers.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50238" y="3419627"/>
            <a:ext cx="609152" cy="609152"/>
          </a:xfrm>
          <a:custGeom>
            <a:avLst/>
            <a:gdLst/>
            <a:ahLst/>
            <a:cxnLst/>
            <a:rect l="l" t="t" r="r" b="b"/>
            <a:pathLst>
              <a:path w="609152" h="609152">
                <a:moveTo>
                  <a:pt x="0" y="0"/>
                </a:moveTo>
                <a:lnTo>
                  <a:pt x="609153" y="0"/>
                </a:lnTo>
                <a:lnTo>
                  <a:pt x="609153" y="609153"/>
                </a:lnTo>
                <a:lnTo>
                  <a:pt x="0" y="6091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3281" b="-13281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850238" y="4261847"/>
            <a:ext cx="9445523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Privacy-first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50238" y="4749108"/>
            <a:ext cx="9445523" cy="41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 inference and data processing occur on the host machine; no external data leakage.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7850238" y="5577783"/>
            <a:ext cx="609152" cy="609152"/>
          </a:xfrm>
          <a:custGeom>
            <a:avLst/>
            <a:gdLst/>
            <a:ahLst/>
            <a:cxnLst/>
            <a:rect l="l" t="t" r="r" b="b"/>
            <a:pathLst>
              <a:path w="609152" h="609152">
                <a:moveTo>
                  <a:pt x="0" y="0"/>
                </a:moveTo>
                <a:lnTo>
                  <a:pt x="609153" y="0"/>
                </a:lnTo>
                <a:lnTo>
                  <a:pt x="609153" y="609152"/>
                </a:lnTo>
                <a:lnTo>
                  <a:pt x="0" y="6091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2655" b="-22657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50238" y="6420002"/>
            <a:ext cx="9445523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Modular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0238" y="6907263"/>
            <a:ext cx="9445523" cy="41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Independent modules (chat, vision, parsing, retrieval) that plug into a common bus.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7850238" y="7735938"/>
            <a:ext cx="609152" cy="609152"/>
          </a:xfrm>
          <a:custGeom>
            <a:avLst/>
            <a:gdLst/>
            <a:ahLst/>
            <a:cxnLst/>
            <a:rect l="l" t="t" r="r" b="b"/>
            <a:pathLst>
              <a:path w="609152" h="609152">
                <a:moveTo>
                  <a:pt x="0" y="0"/>
                </a:moveTo>
                <a:lnTo>
                  <a:pt x="609153" y="0"/>
                </a:lnTo>
                <a:lnTo>
                  <a:pt x="609153" y="609153"/>
                </a:lnTo>
                <a:lnTo>
                  <a:pt x="0" y="6091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8749" r="-18751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850238" y="8578158"/>
            <a:ext cx="9445523" cy="40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Practical &amp; Local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50238" y="9065419"/>
            <a:ext cx="9445523" cy="410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19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Optimized for local latency profiles and modest hardware (laptop/desktop).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27336" y="145999"/>
            <a:ext cx="6663328" cy="9995002"/>
            <a:chOff x="0" y="0"/>
            <a:chExt cx="8884437" cy="1332666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884412" cy="13326618"/>
            </a:xfrm>
            <a:custGeom>
              <a:avLst/>
              <a:gdLst/>
              <a:ahLst/>
              <a:cxnLst/>
              <a:rect l="l" t="t" r="r" b="b"/>
              <a:pathLst>
                <a:path w="8884412" h="13326618">
                  <a:moveTo>
                    <a:pt x="0" y="0"/>
                  </a:moveTo>
                  <a:lnTo>
                    <a:pt x="8884412" y="0"/>
                  </a:lnTo>
                  <a:lnTo>
                    <a:pt x="8884412" y="13326618"/>
                  </a:lnTo>
                  <a:lnTo>
                    <a:pt x="0" y="13326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4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797871"/>
            <a:ext cx="9445523" cy="515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30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The Engine — Technical Foundation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1495720"/>
            <a:ext cx="10359923" cy="28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Core stack and architecture implemented to date: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992238" y="1928660"/>
            <a:ext cx="9445523" cy="1914077"/>
          </a:xfrm>
          <a:custGeom>
            <a:avLst/>
            <a:gdLst/>
            <a:ahLst/>
            <a:cxnLst/>
            <a:rect l="l" t="t" r="r" b="b"/>
            <a:pathLst>
              <a:path w="9445523" h="1914077">
                <a:moveTo>
                  <a:pt x="0" y="0"/>
                </a:moveTo>
                <a:lnTo>
                  <a:pt x="9445524" y="0"/>
                </a:lnTo>
                <a:lnTo>
                  <a:pt x="9445524" y="1914077"/>
                </a:lnTo>
                <a:lnTo>
                  <a:pt x="0" y="1914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42" b="-243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5410188" y="1913351"/>
            <a:ext cx="609600" cy="537130"/>
            <a:chOff x="-3" y="-29761"/>
            <a:chExt cx="311747" cy="5138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1744" cy="389731"/>
            </a:xfrm>
            <a:custGeom>
              <a:avLst/>
              <a:gdLst/>
              <a:ahLst/>
              <a:cxnLst/>
              <a:rect l="l" t="t" r="r" b="b"/>
              <a:pathLst>
                <a:path w="311744" h="389731">
                  <a:moveTo>
                    <a:pt x="0" y="0"/>
                  </a:moveTo>
                  <a:lnTo>
                    <a:pt x="311744" y="0"/>
                  </a:lnTo>
                  <a:lnTo>
                    <a:pt x="311744" y="389731"/>
                  </a:lnTo>
                  <a:lnTo>
                    <a:pt x="0" y="38973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97" r="-110398" b="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-3" y="-29761"/>
              <a:ext cx="311744" cy="513894"/>
            </a:xfrm>
            <a:prstGeom prst="flowChartConnector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5628" y="2689174"/>
            <a:ext cx="8998744" cy="3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Streamlit UI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5628" y="3074041"/>
            <a:ext cx="8998744" cy="54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Reactive frontend, componentized pages, state managed via session state and custom caching layers for attachments.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92238" y="3976688"/>
            <a:ext cx="9445523" cy="1914077"/>
          </a:xfrm>
          <a:custGeom>
            <a:avLst/>
            <a:gdLst/>
            <a:ahLst/>
            <a:cxnLst/>
            <a:rect l="l" t="t" r="r" b="b"/>
            <a:pathLst>
              <a:path w="9445523" h="1914077">
                <a:moveTo>
                  <a:pt x="0" y="0"/>
                </a:moveTo>
                <a:lnTo>
                  <a:pt x="9445524" y="0"/>
                </a:lnTo>
                <a:lnTo>
                  <a:pt x="9445524" y="1914077"/>
                </a:lnTo>
                <a:lnTo>
                  <a:pt x="0" y="19140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42" b="-243"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5410188" y="3983086"/>
            <a:ext cx="609600" cy="545747"/>
            <a:chOff x="-6" y="-7799"/>
            <a:chExt cx="311750" cy="4087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1744" cy="389731"/>
            </a:xfrm>
            <a:custGeom>
              <a:avLst/>
              <a:gdLst/>
              <a:ahLst/>
              <a:cxnLst/>
              <a:rect l="l" t="t" r="r" b="b"/>
              <a:pathLst>
                <a:path w="311744" h="389731">
                  <a:moveTo>
                    <a:pt x="0" y="0"/>
                  </a:moveTo>
                  <a:lnTo>
                    <a:pt x="311744" y="0"/>
                  </a:lnTo>
                  <a:lnTo>
                    <a:pt x="311744" y="389731"/>
                  </a:lnTo>
                  <a:lnTo>
                    <a:pt x="0" y="38973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97" r="-110398" b="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-6" y="-7799"/>
              <a:ext cx="311747" cy="4087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15628" y="4737202"/>
            <a:ext cx="8998744" cy="3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Ollama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15628" y="5122069"/>
            <a:ext cx="8998744" cy="54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LLM orchestration and model management — prompt routing, persona handling, and isolation per session.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992238" y="6024715"/>
            <a:ext cx="9445523" cy="1650949"/>
          </a:xfrm>
          <a:custGeom>
            <a:avLst/>
            <a:gdLst/>
            <a:ahLst/>
            <a:cxnLst/>
            <a:rect l="l" t="t" r="r" b="b"/>
            <a:pathLst>
              <a:path w="9445523" h="1650949">
                <a:moveTo>
                  <a:pt x="0" y="0"/>
                </a:moveTo>
                <a:lnTo>
                  <a:pt x="9445524" y="0"/>
                </a:lnTo>
                <a:lnTo>
                  <a:pt x="9445524" y="1650949"/>
                </a:lnTo>
                <a:lnTo>
                  <a:pt x="0" y="1650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76" b="-176"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5410188" y="6038303"/>
            <a:ext cx="609594" cy="524922"/>
            <a:chOff x="-250549" y="-155083"/>
            <a:chExt cx="812792" cy="69989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1744" cy="389731"/>
            </a:xfrm>
            <a:custGeom>
              <a:avLst/>
              <a:gdLst/>
              <a:ahLst/>
              <a:cxnLst/>
              <a:rect l="l" t="t" r="r" b="b"/>
              <a:pathLst>
                <a:path w="311744" h="389731">
                  <a:moveTo>
                    <a:pt x="0" y="0"/>
                  </a:moveTo>
                  <a:lnTo>
                    <a:pt x="311744" y="0"/>
                  </a:lnTo>
                  <a:lnTo>
                    <a:pt x="311744" y="389731"/>
                  </a:lnTo>
                  <a:lnTo>
                    <a:pt x="0" y="38973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97" r="-110398" b="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-250549" y="-155083"/>
              <a:ext cx="812792" cy="69989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15628" y="6785219"/>
            <a:ext cx="8998744" cy="3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Plugin Bus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5628" y="7170096"/>
            <a:ext cx="8998744" cy="28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Modular API for adding new processors (vision, parsers, extractors) with well-defined interfaces.</a:t>
            </a:r>
          </a:p>
        </p:txBody>
      </p:sp>
      <p:sp>
        <p:nvSpPr>
          <p:cNvPr id="32" name="Freeform 32" descr="preencoded.png"/>
          <p:cNvSpPr/>
          <p:nvPr/>
        </p:nvSpPr>
        <p:spPr>
          <a:xfrm>
            <a:off x="992238" y="7809605"/>
            <a:ext cx="9445523" cy="1650949"/>
          </a:xfrm>
          <a:custGeom>
            <a:avLst/>
            <a:gdLst/>
            <a:ahLst/>
            <a:cxnLst/>
            <a:rect l="l" t="t" r="r" b="b"/>
            <a:pathLst>
              <a:path w="9445523" h="1650949">
                <a:moveTo>
                  <a:pt x="0" y="0"/>
                </a:moveTo>
                <a:lnTo>
                  <a:pt x="9445524" y="0"/>
                </a:lnTo>
                <a:lnTo>
                  <a:pt x="9445524" y="1650949"/>
                </a:lnTo>
                <a:lnTo>
                  <a:pt x="0" y="1650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76" b="-176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5410188" y="7859978"/>
            <a:ext cx="609588" cy="537123"/>
            <a:chOff x="0" y="0"/>
            <a:chExt cx="311747" cy="38972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11744" cy="389731"/>
            </a:xfrm>
            <a:custGeom>
              <a:avLst/>
              <a:gdLst/>
              <a:ahLst/>
              <a:cxnLst/>
              <a:rect l="l" t="t" r="r" b="b"/>
              <a:pathLst>
                <a:path w="311744" h="389731">
                  <a:moveTo>
                    <a:pt x="0" y="0"/>
                  </a:moveTo>
                  <a:lnTo>
                    <a:pt x="311744" y="0"/>
                  </a:lnTo>
                  <a:lnTo>
                    <a:pt x="311744" y="389731"/>
                  </a:lnTo>
                  <a:lnTo>
                    <a:pt x="0" y="38973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10397" r="-110398" b="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311747" cy="408775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15628" y="8570119"/>
            <a:ext cx="8998744" cy="3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9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Local Storage &amp; RAG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15628" y="8954986"/>
            <a:ext cx="8998744" cy="282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4"/>
              </a:lnSpc>
            </a:pPr>
            <a:r>
              <a:rPr lang="en-US" sz="15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Vector store prototypes (FAISS) with encrypted local blobs for metadata and document chunks.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199"/>
            </a:xfrm>
            <a:custGeom>
              <a:avLst/>
              <a:gdLst/>
              <a:ahLst/>
              <a:cxnLst/>
              <a:rect l="l" t="t" r="r" b="b"/>
              <a:pathLst>
                <a:path w="8766175" h="13149199">
                  <a:moveTo>
                    <a:pt x="0" y="0"/>
                  </a:moveTo>
                  <a:lnTo>
                    <a:pt x="8766175" y="0"/>
                  </a:lnTo>
                  <a:lnTo>
                    <a:pt x="8766175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1077811"/>
            <a:ext cx="9445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Milestone 1 — The Core Interface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2164109"/>
            <a:ext cx="9445523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Completed a polished, multilingual dashboard with responsive navigation and custom CSS that emulates a dark-mode development environment.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92238" y="3626644"/>
            <a:ext cx="141684" cy="141684"/>
            <a:chOff x="0" y="0"/>
            <a:chExt cx="188912" cy="1889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17444" y="3447459"/>
            <a:ext cx="9020327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Internationalization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7444" y="4003329"/>
            <a:ext cx="9020327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UI strings externalized; language toggles implemented (English + fallback locales).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92238" y="5713962"/>
            <a:ext cx="141684" cy="141684"/>
            <a:chOff x="0" y="0"/>
            <a:chExt cx="188912" cy="1889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417444" y="5534768"/>
            <a:ext cx="9020327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Navigation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7444" y="6090647"/>
            <a:ext cx="9020327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Left rail with collapsible sections, keyboard shortcuts, and session-aware routing.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92238" y="7801270"/>
            <a:ext cx="141684" cy="141684"/>
            <a:chOff x="0" y="0"/>
            <a:chExt cx="188912" cy="1889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417444" y="7622086"/>
            <a:ext cx="9020327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Styling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7444" y="8177955"/>
            <a:ext cx="9020327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Custom CSS for dark mode, color accents using theme palette (#a2b9f9 primary), and accessible contrast ratios.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187026"/>
            <a:ext cx="16303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Milestone 2 — Completed Modules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415160"/>
            <a:ext cx="172179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Key functional modules delivered and tested end-to-end on local hardware.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4273448"/>
            <a:ext cx="838200" cy="1047750"/>
            <a:chOff x="0" y="0"/>
            <a:chExt cx="1117600" cy="1397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117600" cy="1397000"/>
            </a:xfrm>
            <a:custGeom>
              <a:avLst/>
              <a:gdLst/>
              <a:ahLst/>
              <a:cxnLst/>
              <a:rect l="l" t="t" r="r" b="b"/>
              <a:pathLst>
                <a:path w="1117600" h="13970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84797" y="4244873"/>
            <a:ext cx="2617441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Control Center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84797" y="4800752"/>
            <a:ext cx="2617441" cy="326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 chat client with persona-based prompting, history isolation per project, and streaming response support via Ollama.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156597" y="4273448"/>
            <a:ext cx="838200" cy="1047750"/>
            <a:chOff x="0" y="0"/>
            <a:chExt cx="1117600" cy="1397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1117600" cy="1397000"/>
            </a:xfrm>
            <a:custGeom>
              <a:avLst/>
              <a:gdLst/>
              <a:ahLst/>
              <a:cxnLst/>
              <a:rect l="l" t="t" r="r" b="b"/>
              <a:pathLst>
                <a:path w="1117600" h="13970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349155" y="4244873"/>
            <a:ext cx="261759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Style Lab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49155" y="4800752"/>
            <a:ext cx="2617594" cy="3261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Vision AI integration and on-device image generation pipeline for rapid interior design mockups and concept exploration.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21108" y="4273448"/>
            <a:ext cx="838200" cy="1047750"/>
            <a:chOff x="0" y="0"/>
            <a:chExt cx="1117600" cy="139700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117600" cy="1397000"/>
            </a:xfrm>
            <a:custGeom>
              <a:avLst/>
              <a:gdLst/>
              <a:ahLst/>
              <a:cxnLst/>
              <a:rect l="l" t="t" r="r" b="b"/>
              <a:pathLst>
                <a:path w="1117600" h="13970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513666" y="4244873"/>
            <a:ext cx="261759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Data Vault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3666" y="4800752"/>
            <a:ext cx="2617594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PDF/text ingestion, OCR fallback, structured parsing, and chunked vectorization for retrieval.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85609" y="4273448"/>
            <a:ext cx="838200" cy="1047750"/>
            <a:chOff x="0" y="0"/>
            <a:chExt cx="1117600" cy="1397000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117600" cy="1397000"/>
            </a:xfrm>
            <a:custGeom>
              <a:avLst/>
              <a:gdLst/>
              <a:ahLst/>
              <a:cxnLst/>
              <a:rect l="l" t="t" r="r" b="b"/>
              <a:pathLst>
                <a:path w="1117600" h="1397000">
                  <a:moveTo>
                    <a:pt x="0" y="0"/>
                  </a:moveTo>
                  <a:lnTo>
                    <a:pt x="1117600" y="0"/>
                  </a:lnTo>
                  <a:lnTo>
                    <a:pt x="1117600" y="1397000"/>
                  </a:lnTo>
                  <a:lnTo>
                    <a:pt x="0" y="139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4678177" y="4244873"/>
            <a:ext cx="2617594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Study Sheets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678177" y="4800752"/>
            <a:ext cx="2617594" cy="2807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YouTube transcript extraction, summarization, and auto-flashcard generation for rapid study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37217" y="205826"/>
            <a:ext cx="6583556" cy="9875339"/>
            <a:chOff x="0" y="0"/>
            <a:chExt cx="8778075" cy="131671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778113" cy="13167106"/>
            </a:xfrm>
            <a:custGeom>
              <a:avLst/>
              <a:gdLst/>
              <a:ahLst/>
              <a:cxnLst/>
              <a:rect l="l" t="t" r="r" b="b"/>
              <a:pathLst>
                <a:path w="8778113" h="13167106">
                  <a:moveTo>
                    <a:pt x="0" y="0"/>
                  </a:moveTo>
                  <a:lnTo>
                    <a:pt x="8778113" y="0"/>
                  </a:lnTo>
                  <a:lnTo>
                    <a:pt x="8778113" y="13167106"/>
                  </a:lnTo>
                  <a:lnTo>
                    <a:pt x="0" y="13167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3" b="-2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850238" y="617196"/>
            <a:ext cx="9445523" cy="72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dirty="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Deep Dive — Technical Problem Solved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50238" y="1934318"/>
            <a:ext cx="9445523" cy="95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Problem: AI responses sometimes embedded raw Mermaid.js or noisy markup which broke front-end renderers and caused layout instability.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850238" y="3184627"/>
            <a:ext cx="549326" cy="343195"/>
            <a:chOff x="0" y="0"/>
            <a:chExt cx="732434" cy="45759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2432" cy="457597"/>
            </a:xfrm>
            <a:custGeom>
              <a:avLst/>
              <a:gdLst/>
              <a:ahLst/>
              <a:cxnLst/>
              <a:rect l="l" t="t" r="r" b="b"/>
              <a:pathLst>
                <a:path w="732432" h="457597">
                  <a:moveTo>
                    <a:pt x="0" y="0"/>
                  </a:moveTo>
                  <a:lnTo>
                    <a:pt x="732432" y="0"/>
                  </a:lnTo>
                  <a:lnTo>
                    <a:pt x="732432" y="457597"/>
                  </a:lnTo>
                  <a:lnTo>
                    <a:pt x="0" y="4575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58" r="-3015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732434" cy="467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50238" y="3613252"/>
            <a:ext cx="4589707" cy="38100"/>
            <a:chOff x="0" y="0"/>
            <a:chExt cx="6119609" cy="50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19622" cy="50800"/>
            </a:xfrm>
            <a:custGeom>
              <a:avLst/>
              <a:gdLst/>
              <a:ahLst/>
              <a:cxnLst/>
              <a:rect l="l" t="t" r="r" b="b"/>
              <a:pathLst>
                <a:path w="6119622" h="50800">
                  <a:moveTo>
                    <a:pt x="0" y="0"/>
                  </a:moveTo>
                  <a:lnTo>
                    <a:pt x="6119622" y="0"/>
                  </a:lnTo>
                  <a:lnTo>
                    <a:pt x="611962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7850238" y="3798094"/>
            <a:ext cx="4589707" cy="45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Solution Approach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50238" y="4329560"/>
            <a:ext cx="4589707" cy="224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Implemented a robust, layered scraper using compiled regex + token-aware trimming to reliably extract and sanitize Mermaid blocks while preserving diagram fidelity.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705902" y="3184627"/>
            <a:ext cx="549326" cy="343195"/>
            <a:chOff x="0" y="0"/>
            <a:chExt cx="732434" cy="45759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32432" cy="457597"/>
            </a:xfrm>
            <a:custGeom>
              <a:avLst/>
              <a:gdLst/>
              <a:ahLst/>
              <a:cxnLst/>
              <a:rect l="l" t="t" r="r" b="b"/>
              <a:pathLst>
                <a:path w="732432" h="457597">
                  <a:moveTo>
                    <a:pt x="0" y="0"/>
                  </a:moveTo>
                  <a:lnTo>
                    <a:pt x="732432" y="0"/>
                  </a:lnTo>
                  <a:lnTo>
                    <a:pt x="732432" y="457597"/>
                  </a:lnTo>
                  <a:lnTo>
                    <a:pt x="0" y="4575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58" r="-30159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732434" cy="467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05902" y="3613252"/>
            <a:ext cx="4589859" cy="38100"/>
            <a:chOff x="0" y="0"/>
            <a:chExt cx="6119812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119876" cy="50800"/>
            </a:xfrm>
            <a:custGeom>
              <a:avLst/>
              <a:gdLst/>
              <a:ahLst/>
              <a:cxnLst/>
              <a:rect l="l" t="t" r="r" b="b"/>
              <a:pathLst>
                <a:path w="6119876" h="50800">
                  <a:moveTo>
                    <a:pt x="0" y="0"/>
                  </a:moveTo>
                  <a:lnTo>
                    <a:pt x="6119876" y="0"/>
                  </a:lnTo>
                  <a:lnTo>
                    <a:pt x="611987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2705902" y="3798094"/>
            <a:ext cx="4589859" cy="45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Engineering Details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705902" y="4329560"/>
            <a:ext cx="4589859" cy="224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Pre-parse with conservative regex, validate with bracket/keyword matching, fallback to whitespace-preserving sanitizer, and then render via a safe iframe sandbox.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850238" y="7050434"/>
            <a:ext cx="549326" cy="343195"/>
            <a:chOff x="0" y="0"/>
            <a:chExt cx="732434" cy="45759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32432" cy="457597"/>
            </a:xfrm>
            <a:custGeom>
              <a:avLst/>
              <a:gdLst/>
              <a:ahLst/>
              <a:cxnLst/>
              <a:rect l="l" t="t" r="r" b="b"/>
              <a:pathLst>
                <a:path w="732432" h="457597">
                  <a:moveTo>
                    <a:pt x="0" y="0"/>
                  </a:moveTo>
                  <a:lnTo>
                    <a:pt x="732432" y="0"/>
                  </a:lnTo>
                  <a:lnTo>
                    <a:pt x="732432" y="457597"/>
                  </a:lnTo>
                  <a:lnTo>
                    <a:pt x="0" y="4575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0158" r="-30159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732434" cy="4671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6666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50238" y="7479059"/>
            <a:ext cx="9445523" cy="38100"/>
            <a:chOff x="0" y="0"/>
            <a:chExt cx="12594031" cy="5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94082" cy="50800"/>
            </a:xfrm>
            <a:custGeom>
              <a:avLst/>
              <a:gdLst/>
              <a:ahLst/>
              <a:cxnLst/>
              <a:rect l="l" t="t" r="r" b="b"/>
              <a:pathLst>
                <a:path w="12594082" h="50800">
                  <a:moveTo>
                    <a:pt x="0" y="0"/>
                  </a:moveTo>
                  <a:lnTo>
                    <a:pt x="12594082" y="0"/>
                  </a:lnTo>
                  <a:lnTo>
                    <a:pt x="1259408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2B9F9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7850238" y="7663901"/>
            <a:ext cx="9445523" cy="457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666666"/>
                </a:solidFill>
                <a:latin typeface="Arimo"/>
                <a:ea typeface="Arimo"/>
                <a:cs typeface="Arimo"/>
                <a:sym typeface="Arimo"/>
              </a:rPr>
              <a:t>Outcome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50238" y="8195367"/>
            <a:ext cx="9445523" cy="951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Stabilized UI rendering, eliminated XSS risks from malformed markup, and improved UX for shared diagram previews.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515200"/>
            <a:ext cx="5256457" cy="5256457"/>
            <a:chOff x="0" y="0"/>
            <a:chExt cx="7008609" cy="7008609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7008622" cy="7008622"/>
            </a:xfrm>
            <a:custGeom>
              <a:avLst/>
              <a:gdLst/>
              <a:ahLst/>
              <a:cxnLst/>
              <a:rect l="l" t="t" r="r" b="b"/>
              <a:pathLst>
                <a:path w="7008622" h="7008622">
                  <a:moveTo>
                    <a:pt x="0" y="0"/>
                  </a:moveTo>
                  <a:lnTo>
                    <a:pt x="7008622" y="0"/>
                  </a:lnTo>
                  <a:lnTo>
                    <a:pt x="7008622" y="7008622"/>
                  </a:lnTo>
                  <a:lnTo>
                    <a:pt x="0" y="7008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6949973" y="2369791"/>
            <a:ext cx="10355161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800" dirty="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Current Status — Work in Progress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9973" y="3314405"/>
            <a:ext cx="10355161" cy="2651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[Done] Local LLM integration (</a:t>
            </a:r>
            <a:r>
              <a:rPr lang="en-US" sz="2400" dirty="0" err="1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Ollama</a:t>
            </a: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routing, session isolation)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[Done] Multimodal UI/UX design and module scaffolding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[In Progress] Audio/WAV processing pipeline (transcription + </a:t>
            </a:r>
            <a:r>
              <a:rPr lang="en-US" sz="2400" dirty="0" err="1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diarization</a:t>
            </a: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)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4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[In Progress] Advanced RAG for large documents (scalable chunking + FAISS tuning)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49973" y="6284566"/>
            <a:ext cx="10355161" cy="1559128"/>
            <a:chOff x="0" y="0"/>
            <a:chExt cx="13806881" cy="20788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06932" cy="2078863"/>
            </a:xfrm>
            <a:custGeom>
              <a:avLst/>
              <a:gdLst/>
              <a:ahLst/>
              <a:cxnLst/>
              <a:rect l="l" t="t" r="r" b="b"/>
              <a:pathLst>
                <a:path w="13806932" h="2078863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3466699" y="0"/>
                  </a:lnTo>
                  <a:cubicBezTo>
                    <a:pt x="13654660" y="0"/>
                    <a:pt x="13806932" y="152273"/>
                    <a:pt x="13806932" y="340233"/>
                  </a:cubicBezTo>
                  <a:lnTo>
                    <a:pt x="13806932" y="1738630"/>
                  </a:lnTo>
                  <a:cubicBezTo>
                    <a:pt x="13806932" y="1926590"/>
                    <a:pt x="13654660" y="2078863"/>
                    <a:pt x="13466699" y="2078863"/>
                  </a:cubicBezTo>
                  <a:lnTo>
                    <a:pt x="340233" y="2078863"/>
                  </a:lnTo>
                  <a:cubicBezTo>
                    <a:pt x="152273" y="2078863"/>
                    <a:pt x="0" y="1926463"/>
                    <a:pt x="0" y="1738630"/>
                  </a:cubicBez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233495" y="6724202"/>
            <a:ext cx="354359" cy="283521"/>
            <a:chOff x="0" y="0"/>
            <a:chExt cx="472478" cy="37802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472440" cy="378079"/>
            </a:xfrm>
            <a:custGeom>
              <a:avLst/>
              <a:gdLst/>
              <a:ahLst/>
              <a:cxnLst/>
              <a:rect l="l" t="t" r="r" b="b"/>
              <a:pathLst>
                <a:path w="472440" h="378079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72" r="-680" b="13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7871374" y="6524777"/>
            <a:ext cx="9150248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Next test run scheduled on a 16GB laptop to measure end-to-end latency and memory footprint.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199"/>
            </a:xfrm>
            <a:custGeom>
              <a:avLst/>
              <a:gdLst/>
              <a:ahLst/>
              <a:cxnLst/>
              <a:rect l="l" t="t" r="r" b="b"/>
              <a:pathLst>
                <a:path w="8766175" h="13149199">
                  <a:moveTo>
                    <a:pt x="0" y="0"/>
                  </a:moveTo>
                  <a:lnTo>
                    <a:pt x="8766175" y="0"/>
                  </a:lnTo>
                  <a:lnTo>
                    <a:pt x="8766175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811854"/>
            <a:ext cx="9445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Challenges &amp; Learning Curves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1983877"/>
            <a:ext cx="38100" cy="7453160"/>
            <a:chOff x="0" y="0"/>
            <a:chExt cx="50800" cy="993754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9937496"/>
            </a:xfrm>
            <a:custGeom>
              <a:avLst/>
              <a:gdLst/>
              <a:ahLst/>
              <a:cxnLst/>
              <a:rect l="l" t="t" r="r" b="b"/>
              <a:pathLst>
                <a:path w="50800" h="993749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912096"/>
                  </a:lnTo>
                  <a:cubicBezTo>
                    <a:pt x="50800" y="9926065"/>
                    <a:pt x="39370" y="9937496"/>
                    <a:pt x="25400" y="9937496"/>
                  </a:cubicBezTo>
                  <a:cubicBezTo>
                    <a:pt x="11430" y="9937496"/>
                    <a:pt x="0" y="9926065"/>
                    <a:pt x="0" y="9912096"/>
                  </a:cubicBezTo>
                  <a:close/>
                </a:path>
              </a:pathLst>
            </a:custGeom>
            <a:solidFill>
              <a:srgbClr val="B5C1E2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025576" y="1979114"/>
            <a:ext cx="9455048" cy="2115893"/>
            <a:chOff x="0" y="0"/>
            <a:chExt cx="12606731" cy="28211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06782" cy="2821178"/>
            </a:xfrm>
            <a:custGeom>
              <a:avLst/>
              <a:gdLst/>
              <a:ahLst/>
              <a:cxnLst/>
              <a:rect l="l" t="t" r="r" b="b"/>
              <a:pathLst>
                <a:path w="12606782" h="2821178">
                  <a:moveTo>
                    <a:pt x="0" y="0"/>
                  </a:moveTo>
                  <a:lnTo>
                    <a:pt x="12606782" y="0"/>
                  </a:lnTo>
                  <a:lnTo>
                    <a:pt x="12606782" y="2821178"/>
                  </a:lnTo>
                  <a:lnTo>
                    <a:pt x="0" y="2821178"/>
                  </a:lnTo>
                  <a:close/>
                </a:path>
              </a:pathLst>
            </a:custGeom>
            <a:solidFill>
              <a:srgbClr val="CFDBFC"/>
            </a:solidFill>
            <a:ln w="9526" cap="sq">
              <a:solidFill>
                <a:srgbClr val="B5C1E2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13850" y="2248348"/>
            <a:ext cx="886896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Local Model Latency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850" y="2804217"/>
            <a:ext cx="886896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Mitigation: batching, streaming partial responses, and lightweight quantized models for interactive use.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5576" y="4652515"/>
            <a:ext cx="9455048" cy="2115893"/>
            <a:chOff x="0" y="0"/>
            <a:chExt cx="12606731" cy="28211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06782" cy="2821178"/>
            </a:xfrm>
            <a:custGeom>
              <a:avLst/>
              <a:gdLst/>
              <a:ahLst/>
              <a:cxnLst/>
              <a:rect l="l" t="t" r="r" b="b"/>
              <a:pathLst>
                <a:path w="12606782" h="2821178">
                  <a:moveTo>
                    <a:pt x="0" y="0"/>
                  </a:moveTo>
                  <a:lnTo>
                    <a:pt x="12606782" y="0"/>
                  </a:lnTo>
                  <a:lnTo>
                    <a:pt x="12606782" y="2821178"/>
                  </a:lnTo>
                  <a:lnTo>
                    <a:pt x="0" y="2821178"/>
                  </a:lnTo>
                  <a:close/>
                </a:path>
              </a:pathLst>
            </a:custGeom>
            <a:solidFill>
              <a:srgbClr val="CFDBFC"/>
            </a:solidFill>
            <a:ln w="9526" cap="sq">
              <a:solidFill>
                <a:srgbClr val="B5C1E2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13850" y="4921748"/>
            <a:ext cx="886896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Diverse File Formats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13850" y="5477618"/>
            <a:ext cx="886896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Mitigation: layered parsers (PDF→OCR→text), standardized chunking, and file-type validation steps.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5576" y="7325916"/>
            <a:ext cx="9455048" cy="2115893"/>
            <a:chOff x="0" y="0"/>
            <a:chExt cx="12606731" cy="282119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606782" cy="2821178"/>
            </a:xfrm>
            <a:custGeom>
              <a:avLst/>
              <a:gdLst/>
              <a:ahLst/>
              <a:cxnLst/>
              <a:rect l="l" t="t" r="r" b="b"/>
              <a:pathLst>
                <a:path w="12606782" h="2821178">
                  <a:moveTo>
                    <a:pt x="0" y="0"/>
                  </a:moveTo>
                  <a:lnTo>
                    <a:pt x="12606782" y="0"/>
                  </a:lnTo>
                  <a:lnTo>
                    <a:pt x="12606782" y="2821178"/>
                  </a:lnTo>
                  <a:lnTo>
                    <a:pt x="0" y="2821178"/>
                  </a:lnTo>
                  <a:close/>
                </a:path>
              </a:pathLst>
            </a:custGeom>
            <a:solidFill>
              <a:srgbClr val="CFDBFC"/>
            </a:solidFill>
            <a:ln w="9526" cap="sq">
              <a:solidFill>
                <a:srgbClr val="B5C1E2"/>
              </a:solidFill>
              <a:prstDash val="solid"/>
              <a:miter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313850" y="7595149"/>
            <a:ext cx="8868966" cy="47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State Management in Streamlit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3850" y="8151019"/>
            <a:ext cx="8868966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Mitigation: robust session-state patterns, explicit save/restore hooks, and ephemeral caches for large artifacts.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-4763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2714" y="2005573"/>
            <a:ext cx="7951889" cy="824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4400" dirty="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Roadmap — Next Phase (4 weeks)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2714" y="3695700"/>
            <a:ext cx="7951889" cy="3678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9560" lvl="1" indent="-144780" algn="l">
              <a:lnSpc>
                <a:spcPts val="1512"/>
              </a:lnSpc>
              <a:buAutoNum type="arabicPeriod"/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Finish audio pipeline: reliable transcription + speaker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</a:t>
            </a:r>
            <a:r>
              <a:rPr lang="en-US" sz="2200" dirty="0" err="1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diarization</a:t>
            </a: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2.Advance RAG: chunk overlap tuning, hybrid retrieval, and 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relevance feedback loop.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3.Performance: memory profiling, model quantization, and 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lazy-loading heavy assets.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4.Vision-to-Design: refine prompts, add multi-shot image 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refinement loop.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5.Integration tests &amp; user flows: end-to-end scenarios with </a:t>
            </a:r>
          </a:p>
          <a:p>
            <a:pPr marL="289560" lvl="1" indent="-144780" algn="l">
              <a:lnSpc>
                <a:spcPts val="1512"/>
              </a:lnSpc>
              <a:buAutoNum type="arabicPeriod"/>
            </a:pPr>
            <a:endParaRPr lang="en-US" sz="2200" dirty="0">
              <a:solidFill>
                <a:srgbClr val="666666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144780" lvl="1" algn="l">
              <a:lnSpc>
                <a:spcPts val="1512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sample datasets.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353398" y="886273"/>
            <a:ext cx="7951889" cy="7951889"/>
            <a:chOff x="0" y="0"/>
            <a:chExt cx="10602519" cy="1060251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0602468" cy="10602468"/>
            </a:xfrm>
            <a:custGeom>
              <a:avLst/>
              <a:gdLst/>
              <a:ahLst/>
              <a:cxnLst/>
              <a:rect l="l" t="t" r="r" b="b"/>
              <a:pathLst>
                <a:path w="10602468" h="10602468">
                  <a:moveTo>
                    <a:pt x="0" y="0"/>
                  </a:moveTo>
                  <a:lnTo>
                    <a:pt x="10602468" y="0"/>
                  </a:lnTo>
                  <a:lnTo>
                    <a:pt x="10602468" y="10602468"/>
                  </a:lnTo>
                  <a:lnTo>
                    <a:pt x="0" y="10602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353398" y="8944718"/>
            <a:ext cx="7951889" cy="459286"/>
            <a:chOff x="0" y="0"/>
            <a:chExt cx="10602519" cy="6123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602595" cy="612394"/>
            </a:xfrm>
            <a:custGeom>
              <a:avLst/>
              <a:gdLst/>
              <a:ahLst/>
              <a:cxnLst/>
              <a:rect l="l" t="t" r="r" b="b"/>
              <a:pathLst>
                <a:path w="10602595" h="612394">
                  <a:moveTo>
                    <a:pt x="0" y="196723"/>
                  </a:moveTo>
                  <a:cubicBezTo>
                    <a:pt x="0" y="88011"/>
                    <a:pt x="88011" y="0"/>
                    <a:pt x="196723" y="0"/>
                  </a:cubicBezTo>
                  <a:lnTo>
                    <a:pt x="10405872" y="0"/>
                  </a:lnTo>
                  <a:cubicBezTo>
                    <a:pt x="10514457" y="0"/>
                    <a:pt x="10602595" y="88011"/>
                    <a:pt x="10602595" y="196723"/>
                  </a:cubicBezTo>
                  <a:lnTo>
                    <a:pt x="10602595" y="415671"/>
                  </a:lnTo>
                  <a:cubicBezTo>
                    <a:pt x="10602595" y="524256"/>
                    <a:pt x="10514584" y="612394"/>
                    <a:pt x="10405872" y="612394"/>
                  </a:cubicBezTo>
                  <a:lnTo>
                    <a:pt x="196723" y="612394"/>
                  </a:lnTo>
                  <a:cubicBezTo>
                    <a:pt x="88011" y="612394"/>
                    <a:pt x="0" y="524256"/>
                    <a:pt x="0" y="415671"/>
                  </a:cubicBezTo>
                  <a:close/>
                </a:path>
              </a:pathLst>
            </a:custGeom>
            <a:solidFill>
              <a:srgbClr val="B6D6FC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517256" y="9167965"/>
            <a:ext cx="204788" cy="163859"/>
            <a:chOff x="0" y="0"/>
            <a:chExt cx="273050" cy="218478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73050" cy="218440"/>
            </a:xfrm>
            <a:custGeom>
              <a:avLst/>
              <a:gdLst/>
              <a:ahLst/>
              <a:cxnLst/>
              <a:rect l="l" t="t" r="r" b="b"/>
              <a:pathLst>
                <a:path w="273050" h="218440">
                  <a:moveTo>
                    <a:pt x="0" y="0"/>
                  </a:moveTo>
                  <a:lnTo>
                    <a:pt x="273050" y="0"/>
                  </a:lnTo>
                  <a:lnTo>
                    <a:pt x="273050" y="218440"/>
                  </a:lnTo>
                  <a:lnTo>
                    <a:pt x="0" y="218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127" b="-1145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885912" y="9061399"/>
            <a:ext cx="8169916" cy="216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Focus this sprint: reduce median response latency by 30% while preserving output quality.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FDBFC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571684" y="212522"/>
            <a:ext cx="6574631" cy="9861947"/>
            <a:chOff x="0" y="0"/>
            <a:chExt cx="8766175" cy="13149262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8766175" cy="13149199"/>
            </a:xfrm>
            <a:custGeom>
              <a:avLst/>
              <a:gdLst/>
              <a:ahLst/>
              <a:cxnLst/>
              <a:rect l="l" t="t" r="r" b="b"/>
              <a:pathLst>
                <a:path w="8766175" h="13149199">
                  <a:moveTo>
                    <a:pt x="0" y="0"/>
                  </a:moveTo>
                  <a:lnTo>
                    <a:pt x="8766175" y="0"/>
                  </a:lnTo>
                  <a:lnTo>
                    <a:pt x="8766175" y="13149199"/>
                  </a:lnTo>
                  <a:lnTo>
                    <a:pt x="0" y="131491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r="-2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3471710"/>
            <a:ext cx="9445523" cy="746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1"/>
              </a:lnSpc>
            </a:pPr>
            <a:r>
              <a:rPr lang="en-US" sz="4400" dirty="0">
                <a:solidFill>
                  <a:srgbClr val="3F6FF3"/>
                </a:solidFill>
                <a:latin typeface="Arimo"/>
                <a:ea typeface="Arimo"/>
                <a:cs typeface="Arimo"/>
                <a:sym typeface="Arimo"/>
              </a:rPr>
              <a:t>Conclusion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4558008"/>
            <a:ext cx="9445523" cy="220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1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Summary: Core UI, </a:t>
            </a:r>
            <a:r>
              <a:rPr lang="en-US" sz="2200" dirty="0" err="1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Ollama</a:t>
            </a: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-based local LLM orchestration, and four functional modules are implemented. Future work includes audio processing, RAG scalability improvements, and performance optimization.</a:t>
            </a:r>
          </a:p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                                   </a:t>
            </a:r>
          </a:p>
          <a:p>
            <a:pPr algn="ctr">
              <a:lnSpc>
                <a:spcPts val="3511"/>
              </a:lnSpc>
            </a:pPr>
            <a:r>
              <a:rPr lang="en-US" sz="2200" dirty="0">
                <a:solidFill>
                  <a:srgbClr val="66666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200" dirty="0">
                <a:solidFill>
                  <a:srgbClr val="124DF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800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Arimo</vt:lpstr>
      <vt:lpstr>IBM Plex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AI-Studio.pptx</dc:title>
  <dc:creator>Shweta Shukla</dc:creator>
  <cp:lastModifiedBy>Shweta Shukla</cp:lastModifiedBy>
  <cp:revision>2</cp:revision>
  <dcterms:created xsi:type="dcterms:W3CDTF">2006-08-16T00:00:00Z</dcterms:created>
  <dcterms:modified xsi:type="dcterms:W3CDTF">2026-07-12T16:12:03Z</dcterms:modified>
  <dc:identifier>DAHPLU6O2FI</dc:identifier>
</cp:coreProperties>
</file>